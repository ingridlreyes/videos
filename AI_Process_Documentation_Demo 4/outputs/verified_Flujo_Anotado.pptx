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1078992" cy="91440"/>
          </a:xfrm>
          <a:prstGeom prst="rect">
            <a:avLst/>
          </a:prstGeom>
          <a:solidFill>
            <a:srgbClr val="56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10058400" cy="45720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1">
                <a:solidFill>
                  <a:srgbClr val="8BD1D7"/>
                </a:solidFill>
                <a:latin typeface="Aptos"/>
              </a:defRPr>
            </a:pPr>
            <a:r>
              <a:t>AI PROCESS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241280" cy="141732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Cómo enviar un correo en Correo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61104"/>
            <a:ext cx="10058400" cy="73152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2000" b="0">
                <a:solidFill>
                  <a:srgbClr val="DCE7F2"/>
                </a:solidFill>
                <a:latin typeface="Aptos"/>
              </a:defRPr>
            </a:pPr>
            <a:r>
              <a:t>DEMO SINTÉTICA • Evidencias y pasos revisables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44768"/>
            <a:ext cx="100584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0">
                <a:solidFill>
                  <a:srgbClr val="C9D8EA"/>
                </a:solidFill>
                <a:latin typeface="Aptos"/>
              </a:defRPr>
            </a:pPr>
            <a:r>
              <a:t>Revisar y aprobar pasos, capturas y privacidad antes de publicar.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058400" cy="64008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3000" b="1">
                <a:solidFill>
                  <a:srgbClr val="142542"/>
                </a:solidFill>
                <a:latin typeface="Aptos"/>
              </a:defRPr>
            </a:pPr>
            <a:r>
              <a:t>Mapa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972800" cy="50292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647385"/>
                </a:solidFill>
                <a:latin typeface="Aptos"/>
              </a:defRPr>
            </a:pPr>
            <a:r>
              <a:t>Flujo reconstruido para convertir una sesión en documentación accionable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331720"/>
            <a:ext cx="21031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" y="2542032"/>
            <a:ext cx="420624" cy="420624"/>
          </a:xfrm>
          <a:prstGeom prst="round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96896"/>
            <a:ext cx="265176" cy="24688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099816"/>
            <a:ext cx="1828799" cy="8229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500" b="1">
                <a:solidFill>
                  <a:srgbClr val="142542"/>
                </a:solidFill>
                <a:latin typeface="Aptos"/>
              </a:defRPr>
            </a:pPr>
            <a:r>
              <a:t>Crear un mensaje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331720"/>
            <a:ext cx="21031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36391" y="2542032"/>
            <a:ext cx="420624" cy="420624"/>
          </a:xfrm>
          <a:prstGeom prst="round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2596896"/>
            <a:ext cx="265176" cy="24688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3099816"/>
            <a:ext cx="1828799" cy="8229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500" b="1">
                <a:solidFill>
                  <a:srgbClr val="142542"/>
                </a:solidFill>
                <a:latin typeface="Aptos"/>
              </a:defRPr>
            </a:pPr>
            <a:r>
              <a:t>Definir el destinatario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0096" y="2331720"/>
            <a:ext cx="21031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58968" y="2542032"/>
            <a:ext cx="420624" cy="420624"/>
          </a:xfrm>
          <a:prstGeom prst="round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596896"/>
            <a:ext cx="265176" cy="24688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7256" y="3099816"/>
            <a:ext cx="1828799" cy="8229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500" b="1">
                <a:solidFill>
                  <a:srgbClr val="142542"/>
                </a:solidFill>
                <a:latin typeface="Aptos"/>
              </a:defRPr>
            </a:pPr>
            <a:r>
              <a:t>Escribir asunto y mensaje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1" y="2331720"/>
            <a:ext cx="2103120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81544" y="2542032"/>
            <a:ext cx="420624" cy="420624"/>
          </a:xfrm>
          <a:prstGeom prst="round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596896"/>
            <a:ext cx="265176" cy="24688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3099816"/>
            <a:ext cx="1828799" cy="8229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500" b="1">
                <a:solidFill>
                  <a:srgbClr val="142542"/>
                </a:solidFill>
                <a:latin typeface="Aptos"/>
              </a:defRPr>
            </a:pPr>
            <a:r>
              <a:t>Enviar el correo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10698480" cy="64008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0">
                <a:solidFill>
                  <a:srgbClr val="647385"/>
                </a:solidFill>
                <a:latin typeface="Aptos"/>
              </a:defRPr>
            </a:pPr>
            <a:r>
              <a:t>Reglas aplicables: Solo voz instructora; excluir conversación informal y dudas del proceso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246FD3"/>
                </a:solidFill>
                <a:latin typeface="Aptos"/>
              </a:defRPr>
            </a:pPr>
            <a:r>
              <a:t>PASO 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972800" cy="694944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2800" b="1">
                <a:solidFill>
                  <a:srgbClr val="142542"/>
                </a:solidFill>
                <a:latin typeface="Aptos"/>
              </a:defRPr>
            </a:pPr>
            <a:r>
              <a:t>Crear un mensaje</a:t>
            </a:r>
          </a:p>
        </p:txBody>
      </p:sp>
      <p:pic>
        <p:nvPicPr>
          <p:cNvPr id="6" name="Picture 5" descr="pas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232"/>
            <a:ext cx="7498079" cy="42176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7235" y="2719482"/>
            <a:ext cx="1071991" cy="322183"/>
          </a:xfrm>
          <a:prstGeom prst="rect">
            <a:avLst/>
          </a:prstGeom>
          <a:noFill/>
          <a:ln w="38100">
            <a:solidFill>
              <a:srgbClr val="EA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7235" y="2417730"/>
            <a:ext cx="2011680" cy="265176"/>
          </a:xfrm>
          <a:prstGeom prst="roundRect">
            <a:avLst/>
          </a:prstGeom>
          <a:solidFill>
            <a:srgbClr val="EA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955" y="2449734"/>
            <a:ext cx="1874519" cy="2011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Nuevo correo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56231"/>
            <a:ext cx="3383280" cy="4215384"/>
          </a:xfrm>
          <a:prstGeom prst="round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2651760" cy="3474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1">
                <a:solidFill>
                  <a:srgbClr val="246FD3"/>
                </a:solidFill>
                <a:latin typeface="Aptos"/>
              </a:defRPr>
            </a:pPr>
            <a:r>
              <a:t>INSTRUCCIÓN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60904"/>
            <a:ext cx="2743200" cy="15727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900" b="1">
                <a:solidFill>
                  <a:srgbClr val="142542"/>
                </a:solidFill>
                <a:latin typeface="Aptos"/>
              </a:defRPr>
            </a:pPr>
            <a:r>
              <a:t>Selecciona «Nuevo correo» para abrir el editor de mensajes.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663440"/>
            <a:ext cx="27432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0">
                <a:solidFill>
                  <a:srgbClr val="647385"/>
                </a:solidFill>
                <a:latin typeface="Aptos"/>
              </a:defRPr>
            </a:pPr>
            <a:r>
              <a:t>Referencia en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029200"/>
            <a:ext cx="283464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1">
                <a:solidFill>
                  <a:srgbClr val="246FD3"/>
                </a:solidFill>
                <a:latin typeface="Aptos"/>
              </a:defRPr>
            </a:pPr>
            <a:r>
              <a:t>00:00:00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36792"/>
            <a:ext cx="7680960" cy="32004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0">
                <a:solidFill>
                  <a:srgbClr val="647385"/>
                </a:solidFill>
                <a:latin typeface="Aptos"/>
              </a:defRPr>
            </a:pPr>
            <a:r>
              <a:t>Ejemplo anotado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246FD3"/>
                </a:solidFill>
                <a:latin typeface="Aptos"/>
              </a:defRPr>
            </a:pPr>
            <a:r>
              <a:t>PASO 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972800" cy="694944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2800" b="1">
                <a:solidFill>
                  <a:srgbClr val="142542"/>
                </a:solidFill>
                <a:latin typeface="Aptos"/>
              </a:defRPr>
            </a:pPr>
            <a:r>
              <a:t>Definir el destinatario</a:t>
            </a:r>
          </a:p>
        </p:txBody>
      </p:sp>
      <p:pic>
        <p:nvPicPr>
          <p:cNvPr id="6" name="Picture 5" descr="paso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232"/>
            <a:ext cx="7498079" cy="42176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44437" y="3170539"/>
            <a:ext cx="2788348" cy="246030"/>
          </a:xfrm>
          <a:prstGeom prst="rect">
            <a:avLst/>
          </a:prstGeom>
          <a:noFill/>
          <a:ln w="38100">
            <a:solidFill>
              <a:srgbClr val="EA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4437" y="2868787"/>
            <a:ext cx="2011680" cy="265176"/>
          </a:xfrm>
          <a:prstGeom prst="roundRect">
            <a:avLst/>
          </a:prstGeom>
          <a:solidFill>
            <a:srgbClr val="EA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157" y="2900791"/>
            <a:ext cx="1874519" cy="2011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Campo Para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56231"/>
            <a:ext cx="3383280" cy="4215384"/>
          </a:xfrm>
          <a:prstGeom prst="round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2651760" cy="3474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1">
                <a:solidFill>
                  <a:srgbClr val="246FD3"/>
                </a:solidFill>
                <a:latin typeface="Aptos"/>
              </a:defRPr>
            </a:pPr>
            <a:r>
              <a:t>INSTRUCCIÓN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60904"/>
            <a:ext cx="2743200" cy="15727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900" b="1">
                <a:solidFill>
                  <a:srgbClr val="142542"/>
                </a:solidFill>
                <a:latin typeface="Aptos"/>
              </a:defRPr>
            </a:pPr>
            <a:r>
              <a:t>En el campo «Para», escribe el correo de la persona destinataria.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663440"/>
            <a:ext cx="27432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0">
                <a:solidFill>
                  <a:srgbClr val="647385"/>
                </a:solidFill>
                <a:latin typeface="Aptos"/>
              </a:defRPr>
            </a:pPr>
            <a:r>
              <a:t>Referencia en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029200"/>
            <a:ext cx="283464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1">
                <a:solidFill>
                  <a:srgbClr val="246FD3"/>
                </a:solidFill>
                <a:latin typeface="Aptos"/>
              </a:defRPr>
            </a:pPr>
            <a:r>
              <a:t>00:00:06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36792"/>
            <a:ext cx="7680960" cy="32004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0">
                <a:solidFill>
                  <a:srgbClr val="647385"/>
                </a:solidFill>
                <a:latin typeface="Aptos"/>
              </a:defRPr>
            </a:pPr>
            <a:r>
              <a:t>Ejemplo anotado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246FD3"/>
                </a:solidFill>
                <a:latin typeface="Aptos"/>
              </a:defRPr>
            </a:pPr>
            <a:r>
              <a:t>PASO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972800" cy="694944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2800" b="1">
                <a:solidFill>
                  <a:srgbClr val="142542"/>
                </a:solidFill>
                <a:latin typeface="Aptos"/>
              </a:defRPr>
            </a:pPr>
            <a:r>
              <a:t>Escribir asunto y mensaje</a:t>
            </a:r>
          </a:p>
        </p:txBody>
      </p:sp>
      <p:pic>
        <p:nvPicPr>
          <p:cNvPr id="6" name="Picture 5" descr="paso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232"/>
            <a:ext cx="7498079" cy="42176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08458" y="3557158"/>
            <a:ext cx="2624327" cy="269462"/>
          </a:xfrm>
          <a:prstGeom prst="rect">
            <a:avLst/>
          </a:prstGeom>
          <a:noFill/>
          <a:ln w="38100">
            <a:solidFill>
              <a:srgbClr val="EA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8458" y="3255406"/>
            <a:ext cx="2011680" cy="265176"/>
          </a:xfrm>
          <a:prstGeom prst="roundRect">
            <a:avLst/>
          </a:prstGeom>
          <a:solidFill>
            <a:srgbClr val="EA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54178" y="3287410"/>
            <a:ext cx="1874519" cy="2011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Asunto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56231"/>
            <a:ext cx="3383280" cy="4215384"/>
          </a:xfrm>
          <a:prstGeom prst="round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2651760" cy="3474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1">
                <a:solidFill>
                  <a:srgbClr val="246FD3"/>
                </a:solidFill>
                <a:latin typeface="Aptos"/>
              </a:defRPr>
            </a:pPr>
            <a:r>
              <a:t>INSTRUCCIÓN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60904"/>
            <a:ext cx="2743200" cy="15727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900" b="1">
                <a:solidFill>
                  <a:srgbClr val="142542"/>
                </a:solidFill>
                <a:latin typeface="Aptos"/>
              </a:defRPr>
            </a:pPr>
            <a:r>
              <a:t>Completa el asunto e incorpora el contenido del mensaje.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663440"/>
            <a:ext cx="27432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0">
                <a:solidFill>
                  <a:srgbClr val="647385"/>
                </a:solidFill>
                <a:latin typeface="Aptos"/>
              </a:defRPr>
            </a:pPr>
            <a:r>
              <a:t>Referencia en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029200"/>
            <a:ext cx="283464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1">
                <a:solidFill>
                  <a:srgbClr val="246FD3"/>
                </a:solidFill>
                <a:latin typeface="Aptos"/>
              </a:defRPr>
            </a:pPr>
            <a:r>
              <a:t>00:00:12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36792"/>
            <a:ext cx="7680960" cy="32004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0">
                <a:solidFill>
                  <a:srgbClr val="647385"/>
                </a:solidFill>
                <a:latin typeface="Aptos"/>
              </a:defRPr>
            </a:pPr>
            <a:r>
              <a:t>Ejemplo anotado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1">
                <a:solidFill>
                  <a:srgbClr val="246FD3"/>
                </a:solidFill>
                <a:latin typeface="Aptos"/>
              </a:defRPr>
            </a:pPr>
            <a:r>
              <a:t>PASO 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0972800" cy="694944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2800" b="1">
                <a:solidFill>
                  <a:srgbClr val="142542"/>
                </a:solidFill>
                <a:latin typeface="Aptos"/>
              </a:defRPr>
            </a:pPr>
            <a:r>
              <a:t>Enviar el correo</a:t>
            </a:r>
          </a:p>
        </p:txBody>
      </p:sp>
      <p:pic>
        <p:nvPicPr>
          <p:cNvPr id="6" name="Picture 5" descr="paso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232"/>
            <a:ext cx="7498079" cy="42176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75391" y="5408247"/>
            <a:ext cx="708802" cy="287035"/>
          </a:xfrm>
          <a:prstGeom prst="rect">
            <a:avLst/>
          </a:prstGeom>
          <a:noFill/>
          <a:ln w="38100">
            <a:solidFill>
              <a:srgbClr val="EA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75391" y="5106495"/>
            <a:ext cx="2011680" cy="265176"/>
          </a:xfrm>
          <a:prstGeom prst="roundRect">
            <a:avLst/>
          </a:prstGeom>
          <a:solidFill>
            <a:srgbClr val="EA3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1111" y="5138499"/>
            <a:ext cx="1874519" cy="2011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Enviar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66175" y="1856231"/>
            <a:ext cx="3383280" cy="4215384"/>
          </a:xfrm>
          <a:prstGeom prst="round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2651760" cy="3474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1">
                <a:solidFill>
                  <a:srgbClr val="246FD3"/>
                </a:solidFill>
                <a:latin typeface="Aptos"/>
              </a:defRPr>
            </a:pPr>
            <a:r>
              <a:t>INSTRUCCIÓN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660904"/>
            <a:ext cx="2743200" cy="1572768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900" b="1">
                <a:solidFill>
                  <a:srgbClr val="142542"/>
                </a:solidFill>
                <a:latin typeface="Aptos"/>
              </a:defRPr>
            </a:pPr>
            <a:r>
              <a:t>Revisa destinatario, asunto y contenido; después selecciona «Enviar».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663440"/>
            <a:ext cx="274320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300" b="0">
                <a:solidFill>
                  <a:srgbClr val="647385"/>
                </a:solidFill>
                <a:latin typeface="Aptos"/>
              </a:defRPr>
            </a:pPr>
            <a:r>
              <a:t>Referencia en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029200"/>
            <a:ext cx="2834640" cy="36576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600" b="1">
                <a:solidFill>
                  <a:srgbClr val="246FD3"/>
                </a:solidFill>
                <a:latin typeface="Aptos"/>
              </a:defRPr>
            </a:pPr>
            <a:r>
              <a:t>00:00:18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36792"/>
            <a:ext cx="7680960" cy="32004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200" b="0">
                <a:solidFill>
                  <a:srgbClr val="647385"/>
                </a:solidFill>
                <a:latin typeface="Aptos"/>
              </a:defRPr>
            </a:pPr>
            <a:r>
              <a:t>Ejemplo anotado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914400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Validación antes de publicar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201168" cy="201168"/>
          </a:xfrm>
          <a:prstGeom prst="roundRect">
            <a:avLst/>
          </a:prstGeom>
          <a:solidFill>
            <a:srgbClr val="59D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746504"/>
            <a:ext cx="10058400" cy="5760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¿La secuencia coincide con lo que realmente hizo el instructor?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606040"/>
            <a:ext cx="201168" cy="201168"/>
          </a:xfrm>
          <a:prstGeom prst="roundRect">
            <a:avLst/>
          </a:prstGeom>
          <a:solidFill>
            <a:srgbClr val="59D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23744"/>
            <a:ext cx="10058400" cy="5760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¿Las marcas señalan el elemento correcto?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383280"/>
            <a:ext cx="201168" cy="201168"/>
          </a:xfrm>
          <a:prstGeom prst="roundRect">
            <a:avLst/>
          </a:prstGeom>
          <a:solidFill>
            <a:srgbClr val="59D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300984"/>
            <a:ext cx="10058400" cy="5760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¿Se eliminaron interrupciones, opiniones y preguntas del flujo?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4160520"/>
            <a:ext cx="201168" cy="201168"/>
          </a:xfrm>
          <a:prstGeom prst="roundRect">
            <a:avLst/>
          </a:prstGeom>
          <a:solidFill>
            <a:srgbClr val="59D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078224"/>
            <a:ext cx="10058400" cy="5760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¿Se protegieron datos personales, credenciales y pantallas sensibles?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937760"/>
            <a:ext cx="201168" cy="201168"/>
          </a:xfrm>
          <a:prstGeom prst="roundRect">
            <a:avLst/>
          </a:prstGeom>
          <a:solidFill>
            <a:srgbClr val="59D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855464"/>
            <a:ext cx="10058400" cy="576072"/>
          </a:xfrm>
          <a:prstGeom prst="rect">
            <a:avLst/>
          </a:prstGeom>
          <a:noFill/>
        </p:spPr>
        <p:txBody>
          <a:bodyPr wrap="square" lIns="36576" tIns="9144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¿Los pasos tienen referencia al minuto del video original?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